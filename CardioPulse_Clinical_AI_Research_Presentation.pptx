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114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4D8"/>
                </a:solidFill>
              </a:defRPr>
            </a:pPr>
            <a:r>
              <a:t>🫀 CARDIOPULSE CLINICAL AI SUITE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A Calibrated Multi-Center Clinical AI Framework with Dual-Explainer Concordance &amp; Actionable Counterfactual Recourse for Coronary Artery Disease Triage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Academic Research Presentation | Prepared for IEEE TBME / Nature Digital Medicine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9966960" cy="1645920"/>
          </a:xfrm>
          <a:prstGeom prst="roundRect">
            <a:avLst/>
          </a:prstGeom>
          <a:solidFill>
            <a:srgbClr val="15264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4805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🌟 KEY RESEARCH BREAKTHROUGHS &amp; NOVEL CONTRIBUTIONS: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🔬 Inter-Explainer Concordance Engine: Mathematical consensus scoring (Spearman ρ + Top-5 Jaccard) between SHAP &amp; LIME.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🎯 Actionable Counterfactual Recourse Optimizer: De-escalates high-risk patients (&lt; 28%) via bounded physiological modifications.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📊 Decision Curve Analysis &amp; Multi-Center Validation: Gold-standard Net Benefit across 4 international hospital cohorts (N=920).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CLINICAL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Motivation &amp; The 3 Critical Barriers in Cardiology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3946"/>
                </a:solidFill>
              </a:defRPr>
            </a:pPr>
            <a:r>
              <a:t>🫀 The Global CAD Crisis</a:t>
            </a:r>
          </a:p>
          <a:p>
            <a:pPr>
              <a:spcBef>
                <a:spcPts val="1000"/>
              </a:spcBef>
              <a:defRPr sz="1150">
                <a:solidFill>
                  <a:srgbClr val="0F172A"/>
                </a:solidFill>
              </a:defRPr>
            </a:pPr>
            <a:r>
              <a:t>• 17.8 Million Deaths annually worldwide attributed to cardiovascular disease.</a:t>
            </a:r>
            <a:br/>
            <a:r>
              <a:t>• Early diagnosis prevents acute myocardial infarction (AMI) and irreversible cardiac damage.</a:t>
            </a:r>
            <a:br/>
            <a:r>
              <a:t>• Massive Clinical Dilemma: Balancing invasive coronary angiography referrals vs non-invasive triage to prevent missed diagnoses &amp; unnecessary catheterizations.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7132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109728" cy="1554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19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3946"/>
                </a:solidFill>
              </a:defRPr>
            </a:pPr>
            <a:r>
              <a:t>1. The Explainability Trust Deficit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SHAP and LIME frequently disagree on primary risk drivers for the same patient. Without a concordance metric, clinicians cannot distinguish true clinical signals from sampling artifacts.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17520"/>
            <a:ext cx="7132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3017520"/>
            <a:ext cx="10972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79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The 'Passive Prediction' Bottleneck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Standard AI stops at passive risk scores (e.g. '89% High Risk'). They provide zero actionable, physiologically safe guidance on how to therapeutically de-escalate patient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754879"/>
            <a:ext cx="71323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4754879"/>
            <a:ext cx="109728" cy="155448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89204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3. Probability Miscalibration &amp; Clinical Harm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High ROC-AUC alone does not guarantee calibrated risk probabilities. Miscalibrated scores distort Decision Curve Analysis (DCA), causing overtreatment or missed infarctions.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METHODOLOGY &amp;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CardioPulse System Architecture &amp; End-to-End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057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2057400" cy="4572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D3557"/>
                </a:solidFill>
              </a:defRPr>
            </a:pPr>
            <a:r>
              <a:t>Data Ingestion &amp; Imputation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UCI 4-Hospital Database (N=920)</a:t>
            </a:r>
            <a:br/>
            <a:r>
              <a:t>• Cleveland, Budapest, Zurich, Long Beach</a:t>
            </a:r>
            <a:br/>
            <a:r>
              <a:t>• KNN Imputation (K=5) within physiological bounds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280160"/>
            <a:ext cx="2057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44368" y="1280160"/>
            <a:ext cx="20574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7" y="13258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82880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B4D8"/>
                </a:solidFill>
              </a:defRPr>
            </a:pPr>
            <a:r>
              <a:t>10-Model Clinical Zoo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Gradient Boosters (XGBoost, CatBoost, LightGBM)</a:t>
            </a:r>
            <a:br/>
            <a:r>
              <a:t>• Neural Net (MLP), SVM, RF, Extra Trees, GBDT, LR</a:t>
            </a:r>
            <a:br/>
            <a:r>
              <a:t>• Super-Ensemble Soft-Voting Meta-Classifier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1280160"/>
            <a:ext cx="2057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57216" y="1280160"/>
            <a:ext cx="2057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3258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5" y="182880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Probability Calibration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Brier Score probability calibration</a:t>
            </a:r>
            <a:br/>
            <a:r>
              <a:t>• Eliminates overconfident risk distortions</a:t>
            </a:r>
            <a:br/>
            <a:r>
              <a:t>• Holdout Brier score reduced to 0.0931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3" y="1280160"/>
            <a:ext cx="2057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3" y="1280160"/>
            <a:ext cx="20574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3" y="13258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3" y="182880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Dual Explainability Engine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SHAP (Game Theory) + LIME (Surrogates)</a:t>
            </a:r>
            <a:br/>
            <a:r>
              <a:t>• Inter-Explainer Concordance Score (ρ &amp; Jaccard)</a:t>
            </a:r>
            <a:br/>
            <a:r>
              <a:t>• Automated trust audit for clinical concordance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1" y="1280160"/>
            <a:ext cx="2057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82911" y="1280160"/>
            <a:ext cx="205740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8632" y="13258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Stage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1" y="1828800"/>
            <a:ext cx="18745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3946"/>
                </a:solidFill>
              </a:defRPr>
            </a:pPr>
            <a:r>
              <a:t>Recourse &amp; Decision Utility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Counterfactual Recourse Optimizer</a:t>
            </a:r>
            <a:br/>
            <a:r>
              <a:t>• Prescriptive biomarker de-escalation</a:t>
            </a:r>
            <a:br/>
            <a:r>
              <a:t>• Decision Curve Analysis (DCA) Net Benefit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DATASET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Multi-Center International Cohorts &amp; Clinical Feature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🏥 International Multi-Center Database (N = 920)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• 1. Cleveland Clinic Foundation (USA)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N = 303 patients | Gold-standard benchmark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• 2. Hungarian Institute of Cardiology (Budapest)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N = 294 patients | Central European demographic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• 3. University Hospital of Zurich (Switzerland)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N = 123 patients | High-severity inpatient cohort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• 4. VA Medical Center (Long Beach, CA)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N = 200 patients | Multi-morbid veteran population</a:t>
            </a:r>
          </a:p>
          <a:p>
            <a:pPr>
              <a:spcBef>
                <a:spcPts val="800"/>
              </a:spcBef>
              <a:defRPr sz="1100" b="1">
                <a:solidFill>
                  <a:srgbClr val="E63946"/>
                </a:solidFill>
              </a:defRPr>
            </a:pPr>
            <a:r>
              <a:t>🧪 13 Clinical Biomarkers Partitioned by Domain: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• Demographics: age, sex</a:t>
            </a:r>
            <a:br/>
            <a:r>
              <a:t>• Symptoms: Chest pain type (cp: 1=Typical, 2=Atypical, 3=Non-anginal, 4=Asymptomatic)</a:t>
            </a:r>
            <a:br/>
            <a:r>
              <a:t>• Vitals &amp; Lipids: trestbps (BP), chol (lipids), fbs (fasting blood sugar)</a:t>
            </a:r>
            <a:br/>
            <a:r>
              <a:t>• Electrophysiology / Stress: restecg, thalach (max HR), exang, oldpeak (ST dep), slope</a:t>
            </a:r>
            <a:br/>
            <a:r>
              <a:t>• Advanced Diagnostic: ca (fluoroscopy), thal (nuclear scintigraphy)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multi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493776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48463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3557"/>
                </a:solidFill>
              </a:defRPr>
            </a:pPr>
            <a:r>
              <a:t>Key Insight: The system exhibits strong transferability to Cleveland (96.9% AUC) and Budapest (87.6% AUC), while achieving 88.42% ROC-AUC on the complete international cohort ($N=920$).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EMPIRICAL BENCHMARKS &amp; LEADERBOARD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10-Model Clinical Machine Learning Zoo &amp; Leaderboard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🏆 Holdout Test Benchmark Leaderboard</a:t>
            </a:r>
          </a:p>
          <a:p>
            <a:pPr>
              <a:spcBef>
                <a:spcPts val="400"/>
              </a:spcBef>
              <a:defRPr sz="950" b="1">
                <a:solidFill>
                  <a:srgbClr val="E63946"/>
                </a:solidFill>
              </a:defRPr>
            </a:pPr>
            <a:r>
              <a:t>Model Architecture     | AUC     | Acc     | Sens    | Brier </a:t>
            </a:r>
          </a:p>
          <a:p>
            <a:pPr>
              <a:defRPr sz="900" b="1">
                <a:solidFill>
                  <a:srgbClr val="1D3557"/>
                </a:solidFill>
              </a:defRPr>
            </a:pPr>
            <a:r>
              <a:t>⚡ XGBoost (Primary)    | 95.24%  | 88.52%  | 96.43%  | 0.0931</a:t>
            </a:r>
          </a:p>
          <a:p>
            <a:pPr>
              <a:defRPr sz="900" b="1">
                <a:solidFill>
                  <a:srgbClr val="1D3557"/>
                </a:solidFill>
              </a:defRPr>
            </a:pPr>
            <a:r>
              <a:t>🫀 Super-Ensemble       | 94.91%  | 88.52%  | 92.86%  | 0.0944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🐱 CatBoost             | 94.81%  | 86.89%  | 92.86%  | 0.0982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💡 LightGBM             | 94.59%  | 83.61%  | 89.29%  | 0.0974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🌲 Random Forest        | 95.09%  | 85.00%  | 78.57%  | 0.1019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🌳 Extra Trees          | 95.54%  | 83.33%  | 75.00%  | 0.1157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🎯 Support Vector (SVC) | 95.42%  | 85.00%  | 78.57%  | 0.1131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📐 Logistic Regression  | 94.98%  | 83.33%  | 78.57%  | 0.1035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📈 Gradient Boosting    | 91.63%  | 80.00%  | 71.43%  | 0.1103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🧠 Neural Net (MLP)     | 88.50%  | 83.33%  | 85.71%  | 0.1704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846320" cy="3291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47548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</a:defRPr>
            </a:pPr>
            <a:r>
              <a:t>🎯 Clinical Takeaways:</a:t>
            </a:r>
            <a:br/>
            <a:r>
              <a:t>• XGBoost achieves the highest Sensitivity (96.43%) ensuring acute cases are rarely missed.</a:t>
            </a:r>
            <a:br/>
            <a:r>
              <a:t>• Super-Ensemble achieves balanced Specificity (84.85%) and robust generalization.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PROBABILITY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Brier Probability Calibration &amp; Clinical Decision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3557"/>
                </a:solidFill>
              </a:defRPr>
            </a:pPr>
            <a:r>
              <a:t>🎯 Why Probability Calibration is Non-Negotiable</a:t>
            </a:r>
          </a:p>
          <a:p>
            <a:pPr>
              <a:spcBef>
                <a:spcPts val="600"/>
              </a:spcBef>
              <a:defRPr sz="1100" b="1">
                <a:solidFill>
                  <a:srgbClr val="E63946"/>
                </a:solidFill>
              </a:defRPr>
            </a:pPr>
            <a:r>
              <a:t>• The Flaw of Raw Accuracy in Medicine: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A model predicting 95% probability when true prevalence is 60% leads to severe overtreatment and invasive risk.</a:t>
            </a:r>
          </a:p>
          <a:p>
            <a:pPr>
              <a:spcBef>
                <a:spcPts val="600"/>
              </a:spcBef>
              <a:defRPr sz="1100" b="1">
                <a:solidFill>
                  <a:srgbClr val="E63946"/>
                </a:solidFill>
              </a:defRPr>
            </a:pPr>
            <a:r>
              <a:t>• Brier Score Formulation: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Measures mean squared error of predicted probabilities vs true clinical outcomes: Brier = (1/N) ∑ (p_i - y_i)² (0 = Perfect Calibration).</a:t>
            </a:r>
          </a:p>
          <a:p>
            <a:pPr>
              <a:spcBef>
                <a:spcPts val="600"/>
              </a:spcBef>
              <a:defRPr sz="1100" b="1">
                <a:solidFill>
                  <a:srgbClr val="E63946"/>
                </a:solidFill>
              </a:defRPr>
            </a:pPr>
            <a:r>
              <a:t>• CardioPulse Calibration Results: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• Raw Deep Neural Net Brier: 0.1704</a:t>
            </a:r>
            <a:br/>
            <a:r>
              <a:t>• XGBoost Calibrated Brier: 0.0931 (45% Improvement!)</a:t>
            </a:r>
            <a:br/>
            <a:r>
              <a:t>• Super-Ensemble Brier: 0.0944</a:t>
            </a:r>
          </a:p>
          <a:p>
            <a:pPr>
              <a:spcBef>
                <a:spcPts val="600"/>
              </a:spcBef>
              <a:defRPr sz="1100" b="1">
                <a:solidFill>
                  <a:srgbClr val="E63946"/>
                </a:solidFill>
              </a:defRPr>
            </a:pPr>
            <a:r>
              <a:t>• Clinical Impact: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   Doctors can directly use CardioPulse probability thresholds (e.g. 30%, 50%) to stratify patients for ICU admission vs outpatient stress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93776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CardioPulse achieves near-perfect diagonal alignment (Green Line), guaranteeing faithful risk estimation.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EXPLAINABLE AI (XAI) &amp; TRUST AUDITING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Scientific Novelty 1: Dual Explainability &amp; Concordance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512064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3557"/>
                </a:solidFill>
              </a:defRPr>
            </a:pPr>
            <a:r>
              <a:t>Spearman Rank Correlation ρ = 0.943 | Top-5 Jaccard Similarity = 100% agreement on ST Depression, Chest Pain &amp; Fluoroscopy Vessels.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3946"/>
                </a:solidFill>
              </a:defRPr>
            </a:pPr>
            <a:r>
              <a:t>🔬 Dual-Explainer Consensus Architecture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SHAP (Game-Theoretic Shapley Values)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Calculates exact marginal contributions across all biomarker subsets based on cooperative game theory.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LIME (Local Linear Surrogates)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Constructs interpretable linear approximations in the local neighborhood of the patient's feature vector.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Inter-Explainer Concordance Score (C):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C = 0.50 · ρ(r_SHAP, r_LIME) + 0.50 · J(T_5^SHAP, T_5^LIME)</a:t>
            </a:r>
            <a:br/>
            <a:r>
              <a:t>Combines Spearman rank correlation (ρ) and Jaccard Top-5 overlap (J).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Clinical Trust &amp; Safety Guardrail: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If Concordance &lt; 45%, CardioPulse flags the prediction for secondary physician audit, preventing blind trust in local sampling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PRESCRIPTIVE CLINICAL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Scientific Novelty 2: Actionable Counterfactual Recourse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🎯 From Passive Triage to Active Therapeutics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Mathematical Recourse Objective: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x* = argmin ∑ ((x'_j - x_j)/σ_j)²  subject to: f(x') ≤ p_target</a:t>
            </a:r>
            <a:br/>
            <a:r>
              <a:t>Minimizes normalized distance across actionable levers A = {oldpeak, trestbps, thalach, chol} under physiological constraints.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Real Clinical Case Study (58yo Male):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• Initial AI CAD Probability: 98.24% (CRITICAL RISK)</a:t>
            </a:r>
            <a:br/>
            <a:r>
              <a:t>• Target Safety Zone: &lt; 28% CAD probability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Prescribed Intervention Trajectory: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1. oldpeak: 2.2 mm → 0.2 mm (Anti-ischemic therapy / PCI)</a:t>
            </a:r>
            <a:br/>
            <a:r>
              <a:t>2. trestbps: 140 → 120 mmHg (ACE-inhibitor + sodium control)</a:t>
            </a:r>
            <a:br/>
            <a:r>
              <a:t>3. thalach: 130 → 160 bpm (Cardiovascular exercise rehab)</a:t>
            </a:r>
            <a:br/>
            <a:r>
              <a:t>4. chol: 260 → 175 mg/dL (High-intensity statin therapy)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Outcome: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Projected CAD risk safely de-escalates from 98.2% to 18.5%!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re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93776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2120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Provides physicians with quantitative, patient-specific targets to reverse cardiac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CLINICAL NET BENEFIT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Utility: Decision Curve Analysis (DCA)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d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21208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63946"/>
                </a:solidFill>
              </a:defRPr>
            </a:pPr>
            <a:r>
              <a:t>DCA proves superior Net Benefit over both 'Treat All' (angiography) and 'Treat None' across threshold range [0.10, 0.85].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3557"/>
                </a:solidFill>
              </a:defRPr>
            </a:pPr>
            <a:r>
              <a:t>📊 Clinical Net Benefit Quantified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Why ROC-AUC is Not Enough for Bedside Decisions: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ROC-AUC treats false positives and false negatives equally. DCA incorporates the relative clinical harm of unnecessary catheterization vs missed myocardial infarction.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Net Benefit (NB) Formula: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NB(p_t) = (TP/N) - (FP/N) · (p_t / (1 - p_t))</a:t>
            </a:r>
            <a:br/>
            <a:r>
              <a:t>Directly measures true positives penalized by threshold-weighted false positives.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Avoidance of Unnecessary Invasive Angiograms: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At standard clinical decision threshold p_t = 0.30, CardioPulse avoids ~34 unnecessary catheterizations per 100 patients without increasing missed CAD cases.</a:t>
            </a:r>
          </a:p>
          <a:p>
            <a:pPr>
              <a:spcBef>
                <a:spcPts val="500"/>
              </a:spcBef>
              <a:defRPr sz="1100" b="1">
                <a:solidFill>
                  <a:srgbClr val="1D3557"/>
                </a:solidFill>
              </a:defRPr>
            </a:pPr>
            <a:r>
              <a:t>• Hospital Health Economic Benefit: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   Significantly reduces hospital bed congestion, procedural complications, and cardiac catheterization laboratory expenditure.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B4D8"/>
                </a:solidFill>
              </a:defRPr>
            </a:pPr>
            <a:r>
              <a:t>CONCLUSION &amp; TRANSLATION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 of Contributions, Translational Roadmap &amp;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109728" cy="13716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371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3557"/>
                </a:solidFill>
              </a:defRPr>
            </a:pPr>
            <a:r>
              <a:t>📌 Core Research Deliverables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10-Model Clinical Machine Learning Zoo (95.2% ROC-AUC)</a:t>
            </a:r>
            <a:br/>
            <a:r>
              <a:t>• Brier Probability Calibration (0.0931 reliability score)</a:t>
            </a:r>
            <a:br/>
            <a:r>
              <a:t>• Dual Explainability Suite (SHAP + LIME) with Concordance Scoring</a:t>
            </a:r>
            <a:br/>
            <a:r>
              <a:t>• Actionable Counterfactual Recourse Optimizer for patient de-escalation</a:t>
            </a:r>
            <a:br/>
            <a:r>
              <a:t>• Multi-Center International Database Validation (N=920 across 4 hospitals)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39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34639"/>
            <a:ext cx="10972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79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4D8"/>
                </a:solidFill>
              </a:defRPr>
            </a:pPr>
            <a:r>
              <a:t>🚀 Clinical Translation &amp; Deployment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Real-Time Streamlit Mission Control (Integrated Live EKG + 3D Heart)</a:t>
            </a:r>
            <a:br/>
            <a:r>
              <a:t>• HL7 / FHIR Electronic Health Record (EHR) API pipeline</a:t>
            </a:r>
            <a:br/>
            <a:r>
              <a:t>• Decision Support Bedside Triage in Emergency Departments</a:t>
            </a:r>
            <a:br/>
            <a:r>
              <a:t>• Transparent trust audits to prevent medical automation bias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972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59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🔮 Future Research Directions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• Multi-modal integration with raw 12-lead raw DICOM ECG &amp; Angiography video</a:t>
            </a:r>
            <a:br/>
            <a:r>
              <a:t>• Multi-center prospective randomized clinical trial (RCT)</a:t>
            </a:r>
            <a:br/>
            <a:r>
              <a:t>• Dynamic longitudinal reinforcement learning for chronic CAD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🫀 CardioPulse Clinical AI Suite — 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